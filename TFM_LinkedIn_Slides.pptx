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Precisión (%)</c:v>
                </c:pt>
              </c:strCache>
            </c:strRef>
          </c:tx>
          <c:spPr>
            <a:solidFill>
              <a:srgbClr val="EE6C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6C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Árboles de
decisión</c:v>
                  </c:pt>
                  <c:pt idx="1">
                    <c:v>Bosques
aleatorios</c:v>
                  </c:pt>
                  <c:pt idx="2">
                    <c:v>Gradient
Boosting</c:v>
                  </c:pt>
                  <c:pt idx="3">
                    <c:v>Regresión
logística</c:v>
                  </c:pt>
                  <c:pt idx="4">
                    <c:v>Regresión
lineal</c:v>
                  </c:pt>
                  <c:pt idx="5">
                    <c:v>SVM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31.78</c:v>
                </c:pt>
                <c:pt idx="1">
                  <c:v>31.75</c:v>
                </c:pt>
                <c:pt idx="2">
                  <c:v>31.54</c:v>
                </c:pt>
                <c:pt idx="3">
                  <c:v>27.08</c:v>
                </c:pt>
                <c:pt idx="4">
                  <c:v>25.83</c:v>
                </c:pt>
                <c:pt idx="5">
                  <c:v>25.36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Precisión (%)</c:v>
                </c:pt>
              </c:strCache>
            </c:strRef>
          </c:tx>
          <c:spPr>
            <a:solidFill>
              <a:srgbClr val="EE6C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6C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DNN</c:v>
                  </c:pt>
                  <c:pt idx="1">
                    <c:v>Red neuronal
(simple)</c:v>
                  </c:pt>
                  <c:pt idx="2">
                    <c:v>MLP</c:v>
                  </c:pt>
                  <c:pt idx="3">
                    <c:v>Árbol de
decisión</c:v>
                  </c:pt>
                  <c:pt idx="4">
                    <c:v>Bosques
aleatorios</c:v>
                  </c:pt>
                  <c:pt idx="5">
                    <c:v>Gradient
Boosting</c:v>
                  </c:pt>
                  <c:pt idx="6">
                    <c:v>Reg.
logística</c:v>
                  </c:pt>
                  <c:pt idx="7">
                    <c:v>Reg.
lineal</c:v>
                  </c:pt>
                  <c:pt idx="8">
                    <c:v>SVM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36.7</c:v>
                </c:pt>
                <c:pt idx="1">
                  <c:v>36.4</c:v>
                </c:pt>
                <c:pt idx="2">
                  <c:v>35.4</c:v>
                </c:pt>
                <c:pt idx="3">
                  <c:v>31.78</c:v>
                </c:pt>
                <c:pt idx="4">
                  <c:v>31.75</c:v>
                </c:pt>
                <c:pt idx="5">
                  <c:v>31.54</c:v>
                </c:pt>
                <c:pt idx="6">
                  <c:v>27.08</c:v>
                </c:pt>
                <c:pt idx="7">
                  <c:v>25.83</c:v>
                </c:pt>
                <c:pt idx="8">
                  <c:v>25.36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Precisión (%)</c:v>
                </c:pt>
              </c:strCache>
            </c:strRef>
          </c:tx>
          <c:spPr>
            <a:solidFill>
              <a:srgbClr val="1340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6C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407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
(balanceado)</c:v>
                  </c:pt>
                  <c:pt idx="1">
                    <c:v>Random Forest
+ SMOTE</c:v>
                  </c:pt>
                  <c:pt idx="2">
                    <c:v>DNN
+ SMOTE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88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 · ESPECIALIZACIÓN EN INTELIGENCIA ARTIFICIAL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el rendimiento académico con Machine Learning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techo del 32% a un modelo mucho más fiable, iterando con feedback real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92640" y="5160874"/>
            <a:ext cx="365760" cy="691286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6" name="Shape 4"/>
          <p:cNvSpPr/>
          <p:nvPr/>
        </p:nvSpPr>
        <p:spPr>
          <a:xfrm>
            <a:off x="10204704" y="5012741"/>
            <a:ext cx="365760" cy="839419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7" name="Shape 5"/>
          <p:cNvSpPr/>
          <p:nvPr/>
        </p:nvSpPr>
        <p:spPr>
          <a:xfrm>
            <a:off x="10716768" y="4864608"/>
            <a:ext cx="365760" cy="987552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8" name="Shape 6"/>
          <p:cNvSpPr/>
          <p:nvPr/>
        </p:nvSpPr>
        <p:spPr>
          <a:xfrm>
            <a:off x="11228832" y="4222699"/>
            <a:ext cx="365760" cy="1629461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9" name="Shape 7"/>
          <p:cNvSpPr/>
          <p:nvPr/>
        </p:nvSpPr>
        <p:spPr>
          <a:xfrm>
            <a:off x="11740896" y="3383280"/>
            <a:ext cx="365760" cy="2468880"/>
          </a:xfrm>
          <a:prstGeom prst="roundRect">
            <a:avLst>
              <a:gd name="adj" fmla="val 12500"/>
            </a:avLst>
          </a:prstGeom>
          <a:solidFill>
            <a:srgbClr val="EE6C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Huete Toral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real de 5.000 estudiantes, con variables académicas (asistencia, notas, participación en clase, horas de estudio…) y socio-demográficas (departamento, nivel educativo de los padres, ingresos familiares…).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la calificación final de cada alumno (Grade, de A a F) a partir de esas variables.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5544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43800" y="1664208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en el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31546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43800" y="3264408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tras la limpieza (de 23 iniciales)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47548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43800" y="4864608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5715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calificación: A, B, C, D, 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con poca señal</a:t>
            </a:r>
            <a:endParaRPr lang="en-US" sz="3000" dirty="0"/>
          </a:p>
        </p:txBody>
      </p:sp>
      <p:pic>
        <p:nvPicPr>
          <p:cNvPr id="4" name="Image 0" descr="/tmp/tfm_imgs/cell6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217920" cy="4965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55448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23760" y="1664208"/>
            <a:ext cx="41605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0,57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9260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la asistencia con la nota — la más alta de todo el dataset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36576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 variables —numéricas y categóricas— apenas correlacionan de forma individual con Grade (valores cercanos a 0). La señal está repartida y es débil.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Primeros modelos: un techo de cristal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8016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78240" y="14630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915400" y="1572768"/>
            <a:ext cx="2468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≈32%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precisión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35661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y logística, SVM, árboles, bosques aleatorios y Gradient Boosting: ninguno supera el 32% de precisión sobre las 5 clases originales.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neuronales: más complejidad, poca mejora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11247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neuronal profunda (DNN) llega al 36,7% — algo mejor, pero </a:t>
            </a:r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lejos de ser un modelo útil.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de inflexión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del profesor sobre por qué los resultados no mejoraban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es una variable ordinal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414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B &lt; C… pero modelos como la regresión lineal no capturan bien ese orden implícito.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están desbalanceadas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3872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muchas más muestras de unas notas que de otras, los modelos tienden a predecir la clase mayoritaria.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976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ruido inherente en los datos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63600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depende de factores no recogidos en el dataset: motivación, salud, contexto personal…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Replanteamiento: de 5 clases a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Siguiendo la recomendación del profesor, se agrupó la nota (A–F) en tres niveles: Bajo, Medio y Alto — un problema más simple y con más margen de mejora.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32888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1.733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2423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2532888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423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26280" y="2532888"/>
            <a:ext cx="1463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2.473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“Medio” quedó con menos de la mitad de muestras que las otras dos.</a:t>
            </a:r>
            <a:endParaRPr lang="en-US" sz="1250" dirty="0"/>
          </a:p>
        </p:txBody>
      </p:sp>
      <p:pic>
        <p:nvPicPr>
          <p:cNvPr id="15" name="Image 0" descr="/tmp/tfm_imgs/cell11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88720"/>
            <a:ext cx="4663440" cy="394106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53796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class_weight balanceado → 61% de precisión, pero “Medio” seguía fallando (f1 = 0,09)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palanca que cambió todo: SMOTE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Sobremuestreando la clase minoritaria con SMOTE para equilibrar el entrenamiento, Random Forest dio un salto claro de rendimiento.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761488"/>
            <a:ext cx="48463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 Random Forest + SMOTE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(sobre el conjunto de entrenamiento reequilibrado)</a:t>
            </a:r>
            <a:endParaRPr lang="en-US" sz="1200" dirty="0"/>
          </a:p>
        </p:txBody>
      </p:sp>
      <p:pic>
        <p:nvPicPr>
          <p:cNvPr id="8" name="Image 0" descr="/tmp/tfm_imgs/cell11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88720"/>
            <a:ext cx="4663440" cy="38770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3796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— Random Forest + SMOTE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final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188720" y="13258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4630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75320" y="1572768"/>
            <a:ext cx="31089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+ SMOTE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resultado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 proyecto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5661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Random Forest + SMOTE se evaluó sobre el conjunto de entrenamiento reequilibrado; la DNN + SMOTE se evaluó sobre el conjunto de test real. No son directamente comparables — línea de trabajo futuro.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 clave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desbalanceo pesó más que el algoritmo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bien las clases minoritarias importó más que probar modelos más sofisticados.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granularidad, más señal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variable objetivo de 5 a 3 clases mejoró claramente la separabilidad.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superó a las redes neuronales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984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problema, con este volumen de datos y ruido, ganó el modelo más simple.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feedback externo fue clave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rumbo llegó al revisar el enfoque con el profesor, no al cambiar de librería.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leer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completo (código, gráficas y análisis): [enlace]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Huete Toral · Especialización en Inteligencia Artificial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#MachineLearning   #DataScience   #InteligenciaArtificial   #TFM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5212080"/>
            <a:ext cx="365760" cy="640080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7" name="Shape 5"/>
          <p:cNvSpPr/>
          <p:nvPr/>
        </p:nvSpPr>
        <p:spPr>
          <a:xfrm>
            <a:off x="10204704" y="5074920"/>
            <a:ext cx="365760" cy="777240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8" name="Shape 6"/>
          <p:cNvSpPr/>
          <p:nvPr/>
        </p:nvSpPr>
        <p:spPr>
          <a:xfrm>
            <a:off x="10716768" y="4937760"/>
            <a:ext cx="365760" cy="914400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9" name="Shape 7"/>
          <p:cNvSpPr/>
          <p:nvPr/>
        </p:nvSpPr>
        <p:spPr>
          <a:xfrm>
            <a:off x="11228832" y="4343400"/>
            <a:ext cx="365760" cy="1508760"/>
          </a:xfrm>
          <a:prstGeom prst="roundRect">
            <a:avLst>
              <a:gd name="adj" fmla="val 12500"/>
            </a:avLst>
          </a:prstGeom>
          <a:solidFill>
            <a:srgbClr val="8D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11740896" y="3566160"/>
            <a:ext cx="365760" cy="2286000"/>
          </a:xfrm>
          <a:prstGeom prst="roundRect">
            <a:avLst>
              <a:gd name="adj" fmla="val 12500"/>
            </a:avLst>
          </a:prstGeom>
          <a:solidFill>
            <a:srgbClr val="EE6C4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2026-09-01T05:09:37Z</dcterms:created>
  <dcterms:modified xsi:type="dcterms:W3CDTF">2026-09-01T05:09:37Z</dcterms:modified>
</cp:coreProperties>
</file>